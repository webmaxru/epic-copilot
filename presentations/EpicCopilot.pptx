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6" r:id="rId4"/>
  </p:sldMasterIdLst>
  <p:notesMasterIdLst>
    <p:notesMasterId r:id="rId7"/>
  </p:notesMasterIdLst>
  <p:handoutMasterIdLst>
    <p:handoutMasterId r:id="rId8"/>
  </p:handoutMasterIdLst>
  <p:sldIdLst>
    <p:sldId id="1511" r:id="rId5"/>
    <p:sldId id="1519"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940675A-B579-460E-94D1-54222C63F5D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03" autoAdjust="0"/>
    <p:restoredTop sz="61956" autoAdjust="0"/>
  </p:normalViewPr>
  <p:slideViewPr>
    <p:cSldViewPr snapToGrid="0">
      <p:cViewPr varScale="1">
        <p:scale>
          <a:sx n="68" d="100"/>
          <a:sy n="68" d="100"/>
        </p:scale>
        <p:origin x="1288" y="52"/>
      </p:cViewPr>
      <p:guideLst/>
    </p:cSldViewPr>
  </p:slid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3/5/2026</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3/5/2026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kern="1200" dirty="0">
                <a:solidFill>
                  <a:schemeClr val="tx1"/>
                </a:solidFill>
                <a:effectLst/>
                <a:latin typeface="+mn-lt"/>
                <a:ea typeface="+mn-ea"/>
                <a:cs typeface="+mn-cs"/>
              </a:rPr>
              <a:t>Epic Copilot is an AI‑powered assistant that closes the collaboration gap between project managers, product owners, delivery managers, and developers by working inside the same tools, context, and workflows. Built on the GitHub Copilot SDK, it enables non‑developer roles to act with developer‑level clarity—without leaving their daily environment.</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Crucially, Epic Copilot is built around a real enterprise customer need: it was inspired by a backlog‑management workshop delivered with an enterprise delivery‑manager community (“chat with your backlog”) and validated as a genuine business use case.</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err="1">
                <a:solidFill>
                  <a:schemeClr val="tx1"/>
                </a:solidFill>
                <a:effectLst/>
                <a:latin typeface="+mn-lt"/>
                <a:ea typeface="+mn-ea"/>
                <a:cs typeface="+mn-cs"/>
              </a:rPr>
              <a:t>Centered</a:t>
            </a:r>
            <a:r>
              <a:rPr lang="en-GB" sz="1200" b="0" kern="1200" dirty="0">
                <a:solidFill>
                  <a:schemeClr val="tx1"/>
                </a:solidFill>
                <a:effectLst/>
                <a:latin typeface="+mn-lt"/>
                <a:ea typeface="+mn-ea"/>
                <a:cs typeface="+mn-cs"/>
              </a:rPr>
              <a:t> on Azure Boards, it transforms fragmented signals from emails, files, meeting notes, and call summaries across Microsoft 365 into actionable work items, sprint plans, and up‑to‑date status reports via natural language. The current version combines the Copilot SDK with the Azure DevOps CLI; the next iteration leverages Azure DevOps MCP and Work IQ MCP for deeper traceability and automation.</a:t>
            </a:r>
          </a:p>
          <a:p>
            <a:endParaRPr lang="en-GB" dirty="0"/>
          </a:p>
        </p:txBody>
      </p:sp>
      <p:sp>
        <p:nvSpPr>
          <p:cNvPr id="4" name="Slide Number Placeholder 3"/>
          <p:cNvSpPr>
            <a:spLocks noGrp="1"/>
          </p:cNvSpPr>
          <p:nvPr>
            <p:ph type="sldNum" sz="quarter" idx="5"/>
          </p:nvPr>
        </p:nvSpPr>
        <p:spPr/>
        <p:txBody>
          <a:bodyPr/>
          <a:lstStyle/>
          <a:p>
            <a:fld id="{BFDD6F49-EBB7-4CCF-97A8-E526BB28BB69}" type="slidenum">
              <a:rPr lang="en-US" smtClean="0"/>
              <a:t>1</a:t>
            </a:fld>
            <a:endParaRPr lang="en-US" dirty="0"/>
          </a:p>
        </p:txBody>
      </p:sp>
    </p:spTree>
    <p:extLst>
      <p:ext uri="{BB962C8B-B14F-4D97-AF65-F5344CB8AC3E}">
        <p14:creationId xmlns:p14="http://schemas.microsoft.com/office/powerpoint/2010/main" val="7550455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C2CDB-829E-F511-0D42-9F6E5CDEBF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B03783-92DB-1D85-CA6F-A122A15755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DA8D6D-4DCA-F5EA-BF88-D1387AE41AF0}"/>
              </a:ext>
            </a:extLst>
          </p:cNvPr>
          <p:cNvSpPr>
            <a:spLocks noGrp="1"/>
          </p:cNvSpPr>
          <p:nvPr>
            <p:ph type="body" idx="1"/>
          </p:nvPr>
        </p:nvSpPr>
        <p:spPr/>
        <p:txBody>
          <a:bodyPr/>
          <a:lstStyle/>
          <a:p>
            <a:pPr fontAlgn="t"/>
            <a:r>
              <a:rPr lang="en-GB" sz="1200" b="1" i="0" kern="1200" dirty="0">
                <a:solidFill>
                  <a:schemeClr val="tx1"/>
                </a:solidFill>
                <a:effectLst/>
                <a:latin typeface="+mn-lt"/>
                <a:ea typeface="+mn-ea"/>
                <a:cs typeface="+mn-cs"/>
              </a:rPr>
              <a:t>Security / governance / RAI:</a:t>
            </a:r>
            <a:endParaRPr lang="en-GB" sz="1200" b="0" i="0" kern="1200" dirty="0">
              <a:solidFill>
                <a:schemeClr val="tx1"/>
              </a:solidFill>
              <a:effectLst/>
              <a:latin typeface="+mn-lt"/>
              <a:ea typeface="+mn-ea"/>
              <a:cs typeface="+mn-cs"/>
            </a:endParaRPr>
          </a:p>
          <a:p>
            <a:pPr fontAlgn="t"/>
            <a:r>
              <a:rPr lang="en-GB" sz="1200" b="0" i="0" kern="1200" dirty="0">
                <a:solidFill>
                  <a:schemeClr val="tx1"/>
                </a:solidFill>
                <a:effectLst/>
                <a:latin typeface="+mn-lt"/>
                <a:ea typeface="+mn-ea"/>
                <a:cs typeface="+mn-cs"/>
              </a:rPr>
              <a:t>Operates in the </a:t>
            </a:r>
            <a:r>
              <a:rPr lang="en-GB" sz="1200" b="1" i="0" kern="1200" dirty="0">
                <a:solidFill>
                  <a:schemeClr val="tx1"/>
                </a:solidFill>
                <a:effectLst/>
                <a:latin typeface="+mn-lt"/>
                <a:ea typeface="+mn-ea"/>
                <a:cs typeface="+mn-cs"/>
              </a:rPr>
              <a:t>signed-in user’s context</a:t>
            </a:r>
            <a:r>
              <a:rPr lang="en-GB" sz="1200" b="0" i="0" kern="1200" dirty="0">
                <a:solidFill>
                  <a:schemeClr val="tx1"/>
                </a:solidFill>
                <a:effectLst/>
                <a:latin typeface="+mn-lt"/>
                <a:ea typeface="+mn-ea"/>
                <a:cs typeface="+mn-cs"/>
              </a:rPr>
              <a:t> (same boundary as Copilot CLI/SDK usage), helping enforce enterprise identity and permissions.</a:t>
            </a:r>
          </a:p>
          <a:p>
            <a:pPr fontAlgn="t"/>
            <a:r>
              <a:rPr lang="en-GB" sz="1200" b="1" i="0" kern="1200" dirty="0">
                <a:solidFill>
                  <a:schemeClr val="tx1"/>
                </a:solidFill>
                <a:effectLst/>
                <a:latin typeface="+mn-lt"/>
                <a:ea typeface="+mn-ea"/>
                <a:cs typeface="+mn-cs"/>
              </a:rPr>
              <a:t>Human-in-the-loop by design:</a:t>
            </a:r>
            <a:r>
              <a:rPr lang="en-GB" sz="1200" b="0" i="0" kern="1200" dirty="0">
                <a:solidFill>
                  <a:schemeClr val="tx1"/>
                </a:solidFill>
                <a:effectLst/>
                <a:latin typeface="+mn-lt"/>
                <a:ea typeface="+mn-ea"/>
                <a:cs typeface="+mn-cs"/>
              </a:rPr>
              <a:t> proposes changes first; user approves before creating/updating work items (prevents unintended backlog changes).</a:t>
            </a:r>
          </a:p>
          <a:p>
            <a:pPr fontAlgn="t"/>
            <a:r>
              <a:rPr lang="en-GB" sz="1200" b="0" i="0" kern="1200" dirty="0">
                <a:solidFill>
                  <a:schemeClr val="tx1"/>
                </a:solidFill>
                <a:effectLst/>
                <a:latin typeface="+mn-lt"/>
                <a:ea typeface="+mn-ea"/>
                <a:cs typeface="+mn-cs"/>
              </a:rPr>
              <a:t>Clear </a:t>
            </a:r>
            <a:r>
              <a:rPr lang="en-GB" sz="1200" b="1" i="0" kern="1200" dirty="0">
                <a:solidFill>
                  <a:schemeClr val="tx1"/>
                </a:solidFill>
                <a:effectLst/>
                <a:latin typeface="+mn-lt"/>
                <a:ea typeface="+mn-ea"/>
                <a:cs typeface="+mn-cs"/>
              </a:rPr>
              <a:t>data boundaries</a:t>
            </a:r>
            <a:r>
              <a:rPr lang="en-GB" sz="1200" b="0" i="0" kern="1200" dirty="0">
                <a:solidFill>
                  <a:schemeClr val="tx1"/>
                </a:solidFill>
                <a:effectLst/>
                <a:latin typeface="+mn-lt"/>
                <a:ea typeface="+mn-ea"/>
                <a:cs typeface="+mn-cs"/>
              </a:rPr>
              <a:t>: only uses content the user can access; outputs include references back to source artifacts when available</a:t>
            </a:r>
          </a:p>
          <a:p>
            <a:pPr fontAlgn="t"/>
            <a:endParaRPr lang="en-GB" sz="1200" b="0" i="0" kern="1200" dirty="0">
              <a:solidFill>
                <a:schemeClr val="tx1"/>
              </a:solidFill>
              <a:effectLst/>
              <a:latin typeface="+mn-lt"/>
              <a:ea typeface="+mn-ea"/>
              <a:cs typeface="+mn-cs"/>
            </a:endParaRPr>
          </a:p>
          <a:p>
            <a:pPr fontAlgn="t"/>
            <a:r>
              <a:rPr lang="en-GB" sz="1200" b="1" i="0" kern="1200" dirty="0">
                <a:solidFill>
                  <a:schemeClr val="tx1"/>
                </a:solidFill>
                <a:effectLst/>
                <a:latin typeface="+mn-lt"/>
                <a:ea typeface="+mn-ea"/>
                <a:cs typeface="+mn-cs"/>
              </a:rPr>
              <a:t>Operational readiness:</a:t>
            </a:r>
            <a:endParaRPr lang="en-GB" sz="1200" b="0" i="0" kern="1200" dirty="0">
              <a:solidFill>
                <a:schemeClr val="tx1"/>
              </a:solidFill>
              <a:effectLst/>
              <a:latin typeface="+mn-lt"/>
              <a:ea typeface="+mn-ea"/>
              <a:cs typeface="+mn-cs"/>
            </a:endParaRPr>
          </a:p>
          <a:p>
            <a:pPr fontAlgn="t"/>
            <a:r>
              <a:rPr lang="en-GB" sz="1200" b="1" i="0" kern="1200" dirty="0" err="1">
                <a:solidFill>
                  <a:schemeClr val="tx1"/>
                </a:solidFill>
                <a:effectLst/>
                <a:latin typeface="+mn-lt"/>
                <a:ea typeface="+mn-ea"/>
                <a:cs typeface="+mn-cs"/>
              </a:rPr>
              <a:t>Deployability</a:t>
            </a:r>
            <a:r>
              <a:rPr lang="en-GB" sz="1200" b="1" i="0" kern="1200" dirty="0">
                <a:solidFill>
                  <a:schemeClr val="tx1"/>
                </a:solidFill>
                <a:effectLst/>
                <a:latin typeface="+mn-lt"/>
                <a:ea typeface="+mn-ea"/>
                <a:cs typeface="+mn-cs"/>
              </a:rPr>
              <a:t>:</a:t>
            </a:r>
            <a:r>
              <a:rPr lang="en-GB" sz="1200" b="0" i="0" kern="1200" dirty="0">
                <a:solidFill>
                  <a:schemeClr val="tx1"/>
                </a:solidFill>
                <a:effectLst/>
                <a:latin typeface="+mn-lt"/>
                <a:ea typeface="+mn-ea"/>
                <a:cs typeface="+mn-cs"/>
              </a:rPr>
              <a:t> packaged as a repo-backed solution with setup instructions + repeatable configuration.</a:t>
            </a:r>
          </a:p>
          <a:p>
            <a:pPr fontAlgn="t"/>
            <a:r>
              <a:rPr lang="en-GB" sz="1200" b="1" i="0" kern="1200" dirty="0">
                <a:solidFill>
                  <a:schemeClr val="tx1"/>
                </a:solidFill>
                <a:effectLst/>
                <a:latin typeface="+mn-lt"/>
                <a:ea typeface="+mn-ea"/>
                <a:cs typeface="+mn-cs"/>
              </a:rPr>
              <a:t>Supportability:</a:t>
            </a:r>
            <a:r>
              <a:rPr lang="en-GB" sz="1200" b="0" i="0" kern="1200" dirty="0">
                <a:solidFill>
                  <a:schemeClr val="tx1"/>
                </a:solidFill>
                <a:effectLst/>
                <a:latin typeface="+mn-lt"/>
                <a:ea typeface="+mn-ea"/>
                <a:cs typeface="+mn-cs"/>
              </a:rPr>
              <a:t> logs tool calls and outcomes; structured outputs for predictable downstream use (plans, reports).</a:t>
            </a:r>
          </a:p>
          <a:p>
            <a:pPr fontAlgn="t"/>
            <a:r>
              <a:rPr lang="en-GB" sz="1200" b="1" i="0" kern="1200" dirty="0">
                <a:solidFill>
                  <a:schemeClr val="tx1"/>
                </a:solidFill>
                <a:effectLst/>
                <a:latin typeface="+mn-lt"/>
                <a:ea typeface="+mn-ea"/>
                <a:cs typeface="+mn-cs"/>
              </a:rPr>
              <a:t>CI/CD-ready:</a:t>
            </a:r>
            <a:r>
              <a:rPr lang="en-GB" sz="1200" b="0" i="0" kern="1200" dirty="0">
                <a:solidFill>
                  <a:schemeClr val="tx1"/>
                </a:solidFill>
                <a:effectLst/>
                <a:latin typeface="+mn-lt"/>
                <a:ea typeface="+mn-ea"/>
                <a:cs typeface="+mn-cs"/>
              </a:rPr>
              <a:t> automated checks and a minimal “demo mode” path for fast adoption by other teams.</a:t>
            </a:r>
          </a:p>
          <a:p>
            <a:pPr fontAlgn="t"/>
            <a:endParaRPr lang="en-GB" sz="1200" b="0" i="0" kern="1200" dirty="0">
              <a:solidFill>
                <a:schemeClr val="tx1"/>
              </a:solidFill>
              <a:effectLst/>
              <a:latin typeface="+mn-lt"/>
              <a:ea typeface="+mn-ea"/>
              <a:cs typeface="+mn-cs"/>
            </a:endParaRPr>
          </a:p>
          <a:p>
            <a:pPr fontAlgn="t"/>
            <a:r>
              <a:rPr lang="en-GB" sz="1200" b="1" i="0" kern="1200" dirty="0">
                <a:solidFill>
                  <a:schemeClr val="tx1"/>
                </a:solidFill>
                <a:effectLst/>
                <a:latin typeface="+mn-lt"/>
                <a:ea typeface="+mn-ea"/>
                <a:cs typeface="+mn-cs"/>
              </a:rPr>
              <a:t>Amplification-ready story:</a:t>
            </a:r>
            <a:endParaRPr lang="en-GB" sz="1200" b="0" i="0" kern="1200" dirty="0">
              <a:solidFill>
                <a:schemeClr val="tx1"/>
              </a:solidFill>
              <a:effectLst/>
              <a:latin typeface="+mn-lt"/>
              <a:ea typeface="+mn-ea"/>
              <a:cs typeface="+mn-cs"/>
            </a:endParaRPr>
          </a:p>
          <a:p>
            <a:pPr fontAlgn="t"/>
            <a:r>
              <a:rPr lang="en-GB" sz="1200" b="0" i="0" kern="1200" dirty="0">
                <a:solidFill>
                  <a:schemeClr val="tx1"/>
                </a:solidFill>
                <a:effectLst/>
                <a:latin typeface="+mn-lt"/>
                <a:ea typeface="+mn-ea"/>
                <a:cs typeface="+mn-cs"/>
              </a:rPr>
              <a:t>A crisp “before/after” narrative: </a:t>
            </a:r>
            <a:r>
              <a:rPr lang="en-GB" sz="1200" b="0" i="1" kern="1200" dirty="0">
                <a:solidFill>
                  <a:schemeClr val="tx1"/>
                </a:solidFill>
                <a:effectLst/>
                <a:latin typeface="+mn-lt"/>
                <a:ea typeface="+mn-ea"/>
                <a:cs typeface="+mn-cs"/>
              </a:rPr>
              <a:t>from fragmented context → consistent backlog quality → faster sprint readiness + clearer stakeholder comms.</a:t>
            </a:r>
            <a:endParaRPr lang="en-GB" sz="1200" b="0" i="0" kern="1200" dirty="0">
              <a:solidFill>
                <a:schemeClr val="tx1"/>
              </a:solidFill>
              <a:effectLst/>
              <a:latin typeface="+mn-lt"/>
              <a:ea typeface="+mn-ea"/>
              <a:cs typeface="+mn-cs"/>
            </a:endParaRPr>
          </a:p>
          <a:p>
            <a:pPr fontAlgn="t"/>
            <a:r>
              <a:rPr lang="en-GB" sz="1200" b="0" i="0" kern="1200" dirty="0">
                <a:solidFill>
                  <a:schemeClr val="tx1"/>
                </a:solidFill>
                <a:effectLst/>
                <a:latin typeface="+mn-lt"/>
                <a:ea typeface="+mn-ea"/>
                <a:cs typeface="+mn-cs"/>
              </a:rPr>
              <a:t>Reusable pattern for the field catalogue: “Chat with your backlog” as a repeatable enterprise workflow pattern.</a:t>
            </a:r>
          </a:p>
        </p:txBody>
      </p:sp>
      <p:sp>
        <p:nvSpPr>
          <p:cNvPr id="4" name="Slide Number Placeholder 3">
            <a:extLst>
              <a:ext uri="{FF2B5EF4-FFF2-40B4-BE49-F238E27FC236}">
                <a16:creationId xmlns:a16="http://schemas.microsoft.com/office/drawing/2014/main" id="{D48E538B-5B63-D30C-0606-C92F912FC573}"/>
              </a:ext>
            </a:extLst>
          </p:cNvPr>
          <p:cNvSpPr>
            <a:spLocks noGrp="1"/>
          </p:cNvSpPr>
          <p:nvPr>
            <p:ph type="sldNum" sz="quarter" idx="5"/>
          </p:nvPr>
        </p:nvSpPr>
        <p:spPr/>
        <p:txBody>
          <a:bodyPr/>
          <a:lstStyle/>
          <a:p>
            <a:fld id="{BFDD6F49-EBB7-4CCF-97A8-E526BB28BB69}" type="slidenum">
              <a:rPr lang="en-US" smtClean="0"/>
              <a:t>2</a:t>
            </a:fld>
            <a:endParaRPr lang="en-US" dirty="0"/>
          </a:p>
        </p:txBody>
      </p:sp>
    </p:spTree>
    <p:extLst>
      <p:ext uri="{BB962C8B-B14F-4D97-AF65-F5344CB8AC3E}">
        <p14:creationId xmlns:p14="http://schemas.microsoft.com/office/powerpoint/2010/main" val="44686994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pic>
        <p:nvPicPr>
          <p:cNvPr id="8" name="Picture 7" descr="A purple circle with black background&#10;&#10;AI-generated content may be incorrect.">
            <a:extLst>
              <a:ext uri="{FF2B5EF4-FFF2-40B4-BE49-F238E27FC236}">
                <a16:creationId xmlns:a16="http://schemas.microsoft.com/office/drawing/2014/main" id="{515E74ED-2A6E-80D7-2247-FD12F261259F}"/>
              </a:ext>
            </a:extLst>
          </p:cNvPr>
          <p:cNvPicPr>
            <a:picLocks noChangeAspect="1"/>
          </p:cNvPicPr>
          <p:nvPr/>
        </p:nvPicPr>
        <p:blipFill>
          <a:blip r:embed="rId2">
            <a:extLst>
              <a:ext uri="{28A0092B-C50C-407E-A947-70E740481C1C}">
                <a14:useLocalDpi xmlns:a14="http://schemas.microsoft.com/office/drawing/2010/main" val="0"/>
              </a:ext>
            </a:extLst>
          </a:blip>
          <a:srcRect t="47100"/>
          <a:stretch/>
        </p:blipFill>
        <p:spPr>
          <a:xfrm>
            <a:off x="462641" y="0"/>
            <a:ext cx="8989429" cy="475542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830857" y="3603170"/>
            <a:ext cx="7014009" cy="1507672"/>
          </a:xfrm>
        </p:spPr>
        <p:txBody>
          <a:bodyPr anchor="b">
            <a:noAutofit/>
          </a:bodyPr>
          <a:lstStyle>
            <a:lvl1pPr>
              <a:defRPr sz="4500">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484133" y="5480958"/>
            <a:ext cx="6360733" cy="744158"/>
          </a:xfrm>
        </p:spPr>
        <p:txBody>
          <a:bodyPr anchor="b">
            <a:noAutofit/>
          </a:bodyPr>
          <a:lstStyle>
            <a:lvl1pPr marL="0" indent="0">
              <a:lnSpc>
                <a:spcPct val="110000"/>
              </a:lnSpc>
              <a:buNone/>
              <a:defRPr sz="1800"/>
            </a:lvl1pPr>
            <a:lvl2pPr marL="228600" indent="0">
              <a:lnSpc>
                <a:spcPct val="110000"/>
              </a:lnSpc>
              <a:buNone/>
              <a:defRPr sz="1600"/>
            </a:lvl2pPr>
            <a:lvl3pPr marL="457200" indent="0">
              <a:buNone/>
              <a:defRPr sz="1400"/>
            </a:lvl3pPr>
            <a:lvl4pPr marL="685800" indent="0">
              <a:buNone/>
              <a:defRPr sz="1200"/>
            </a:lvl4pPr>
            <a:lvl5pPr marL="914400" indent="0">
              <a:buNone/>
              <a:defRPr sz="1100"/>
            </a:lvl5pPr>
          </a:lstStyle>
          <a:p>
            <a:pPr lvl="0"/>
            <a:r>
              <a:rPr lang="en-US"/>
              <a:t>Click to edit Master text styles</a:t>
            </a:r>
          </a:p>
          <a:p>
            <a:pPr lvl="1"/>
            <a:r>
              <a:rPr lang="en-US"/>
              <a:t>Second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1ABC5762-7F5E-4C8D-B27D-8990A68BB18F}" type="datetime1">
              <a:rPr lang="en-US" smtClean="0"/>
              <a:t>3/5/2026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72196322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Autofit/>
          </a:bodyPr>
          <a:lstStyle/>
          <a:p>
            <a:r>
              <a:rPr lang="en-US" dirty="0"/>
              <a:t>Click to edit Master </a:t>
            </a:r>
            <a:br>
              <a:rPr lang="en-US" dirty="0"/>
            </a:br>
            <a:r>
              <a:rPr lang="en-US" dirty="0"/>
              <a:t>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347132" y="6529916"/>
            <a:ext cx="3284341" cy="328084"/>
          </a:xfrm>
          <a:prstGeom prst="rect">
            <a:avLst/>
          </a:prstGeom>
        </p:spPr>
        <p:txBody>
          <a:bodyPr vert="horz" lIns="91440" tIns="45720" rIns="91440" bIns="45720" rtlCol="0" anchor="ctr"/>
          <a:lstStyle>
            <a:lvl1pPr algn="l">
              <a:defRPr sz="900">
                <a:solidFill>
                  <a:schemeClr val="tx1"/>
                </a:solidFill>
              </a:defRPr>
            </a:lvl1pPr>
          </a:lstStyle>
          <a:p>
            <a:fld id="{665DFBE8-81F4-46A1-BB38-C49D79C4F68D}" type="datetime1">
              <a:rPr lang="en-US" smtClean="0"/>
              <a:t>3/5/2026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660019" y="6529916"/>
            <a:ext cx="2805405" cy="328084"/>
          </a:xfrm>
          <a:prstGeom prst="rect">
            <a:avLst/>
          </a:prstGeom>
        </p:spPr>
        <p:txBody>
          <a:bodyPr vert="horz" lIns="91440" tIns="45720" rIns="91440" bIns="45720" rtlCol="0" anchor="ctr"/>
          <a:lstStyle>
            <a:lvl1pPr algn="r">
              <a:defRPr sz="900">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415660" y="6529916"/>
            <a:ext cx="429207" cy="328084"/>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Tree>
    <p:extLst>
      <p:ext uri="{BB962C8B-B14F-4D97-AF65-F5344CB8AC3E}">
        <p14:creationId xmlns:p14="http://schemas.microsoft.com/office/powerpoint/2010/main" val="974754636"/>
      </p:ext>
    </p:extLst>
  </p:cSld>
  <p:clrMap bg1="lt1" tx1="dk1" bg2="lt2" tx2="dk2" accent1="accent1" accent2="accent2" accent3="accent3" accent4="accent4" accent5="accent5" accent6="accent6" hlink="hlink" folHlink="folHlink"/>
  <p:sldLayoutIdLst>
    <p:sldLayoutId id="2147483879" r:id="rId1"/>
  </p:sldLayoutIdLst>
  <p:hf sldNum="0" hdr="0" ftr="0" dt="0"/>
  <p:txStyles>
    <p:titleStyle>
      <a:lvl1pPr algn="l" defTabSz="914400" rtl="0" eaLnBrk="1" latinLnBrk="0" hangingPunct="1">
        <a:lnSpc>
          <a:spcPct val="80000"/>
        </a:lnSpc>
        <a:spcBef>
          <a:spcPct val="0"/>
        </a:spcBef>
        <a:buNone/>
        <a:defRPr sz="4500" b="0" kern="1200" cap="all" spc="50" baseline="0">
          <a:solidFill>
            <a:schemeClr val="tx1"/>
          </a:solidFill>
          <a:latin typeface="+mj-lt"/>
          <a:ea typeface="+mj-ea"/>
          <a:cs typeface="+mj-cs"/>
        </a:defRPr>
      </a:lvl1pPr>
    </p:titleStyle>
    <p:bodyStyle>
      <a:lvl1pPr marL="228600" indent="-228600" algn="l" defTabSz="914400" rtl="0" eaLnBrk="1" latinLnBrk="0" hangingPunct="1">
        <a:lnSpc>
          <a:spcPct val="14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40000"/>
        </a:lnSpc>
        <a:spcBef>
          <a:spcPts val="500"/>
        </a:spcBef>
        <a:buFont typeface="Arial" panose="020B0604020202020204" pitchFamily="34" charset="0"/>
        <a:buChar char="•"/>
        <a:defRPr sz="1200" kern="1200">
          <a:solidFill>
            <a:schemeClr val="tx1"/>
          </a:solidFill>
          <a:latin typeface="+mn-lt"/>
          <a:ea typeface="+mn-ea"/>
          <a:cs typeface="+mn-cs"/>
        </a:defRPr>
      </a:lvl2pPr>
      <a:lvl3pPr marL="685800" indent="-228600" algn="l" defTabSz="914400" rtl="0" eaLnBrk="1" latinLnBrk="0" hangingPunct="1">
        <a:lnSpc>
          <a:spcPct val="140000"/>
        </a:lnSpc>
        <a:spcBef>
          <a:spcPts val="500"/>
        </a:spcBef>
        <a:buFont typeface="Arial" panose="020B0604020202020204" pitchFamily="34" charset="0"/>
        <a:buChar char="•"/>
        <a:defRPr sz="1100" kern="1200">
          <a:solidFill>
            <a:schemeClr val="tx1"/>
          </a:solidFill>
          <a:latin typeface="+mn-lt"/>
          <a:ea typeface="+mn-ea"/>
          <a:cs typeface="+mn-cs"/>
        </a:defRPr>
      </a:lvl3pPr>
      <a:lvl4pPr marL="914400" indent="-228600" algn="l" defTabSz="914400" rtl="0" eaLnBrk="1" latinLnBrk="0" hangingPunct="1">
        <a:lnSpc>
          <a:spcPct val="140000"/>
        </a:lnSpc>
        <a:spcBef>
          <a:spcPts val="500"/>
        </a:spcBef>
        <a:buFont typeface="Arial" panose="020B0604020202020204" pitchFamily="34" charset="0"/>
        <a:buChar char="•"/>
        <a:defRPr sz="1050" kern="1200">
          <a:solidFill>
            <a:schemeClr val="tx1"/>
          </a:solidFill>
          <a:latin typeface="+mn-lt"/>
          <a:ea typeface="+mn-ea"/>
          <a:cs typeface="+mn-cs"/>
        </a:defRPr>
      </a:lvl4pPr>
      <a:lvl5pPr marL="1143000" indent="-228600" algn="l" defTabSz="914400" rtl="0" eaLnBrk="1" latinLnBrk="0" hangingPunct="1">
        <a:lnSpc>
          <a:spcPct val="140000"/>
        </a:lnSpc>
        <a:spcBef>
          <a:spcPts val="500"/>
        </a:spcBef>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mailto:masalnik@microsoft.com" TargetMode="External"/><Relationship Id="rId4" Type="http://schemas.openxmlformats.org/officeDocument/2006/relationships/hyperlink" Target="https://github.com/webmaxru/epic-copilot"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76E2C-040E-4D92-F9F7-F61C47F4F152}"/>
              </a:ext>
            </a:extLst>
          </p:cNvPr>
          <p:cNvSpPr>
            <a:spLocks noGrp="1"/>
          </p:cNvSpPr>
          <p:nvPr>
            <p:ph type="title"/>
          </p:nvPr>
        </p:nvSpPr>
        <p:spPr>
          <a:xfrm>
            <a:off x="7219784" y="2872988"/>
            <a:ext cx="4712546" cy="1507672"/>
          </a:xfrm>
        </p:spPr>
        <p:txBody>
          <a:bodyPr/>
          <a:lstStyle/>
          <a:p>
            <a:r>
              <a:rPr lang="en-GB" dirty="0"/>
              <a:t>AI-Powered backlog Assistant</a:t>
            </a:r>
          </a:p>
        </p:txBody>
      </p:sp>
      <p:sp>
        <p:nvSpPr>
          <p:cNvPr id="3" name="Content Placeholder 2">
            <a:extLst>
              <a:ext uri="{FF2B5EF4-FFF2-40B4-BE49-F238E27FC236}">
                <a16:creationId xmlns:a16="http://schemas.microsoft.com/office/drawing/2014/main" id="{3C6EE18F-CF72-C06C-3020-B9FA4DEAB729}"/>
              </a:ext>
            </a:extLst>
          </p:cNvPr>
          <p:cNvSpPr>
            <a:spLocks noGrp="1"/>
          </p:cNvSpPr>
          <p:nvPr>
            <p:ph sz="quarter" idx="14"/>
          </p:nvPr>
        </p:nvSpPr>
        <p:spPr>
          <a:xfrm>
            <a:off x="7219784" y="4566559"/>
            <a:ext cx="4712546" cy="744158"/>
          </a:xfrm>
        </p:spPr>
        <p:txBody>
          <a:bodyPr/>
          <a:lstStyle/>
          <a:p>
            <a:r>
              <a:rPr lang="en-US" dirty="0"/>
              <a:t>Include all project managers, product owners, delivery managers in AI-native development</a:t>
            </a:r>
          </a:p>
        </p:txBody>
      </p:sp>
      <p:sp>
        <p:nvSpPr>
          <p:cNvPr id="4" name="Text Placeholder 2">
            <a:extLst>
              <a:ext uri="{FF2B5EF4-FFF2-40B4-BE49-F238E27FC236}">
                <a16:creationId xmlns:a16="http://schemas.microsoft.com/office/drawing/2014/main" id="{8196CF3E-8CFC-1FB8-2013-A7E0660CA47F}"/>
              </a:ext>
            </a:extLst>
          </p:cNvPr>
          <p:cNvSpPr txBox="1">
            <a:spLocks/>
          </p:cNvSpPr>
          <p:nvPr/>
        </p:nvSpPr>
        <p:spPr>
          <a:xfrm>
            <a:off x="461573" y="424843"/>
            <a:ext cx="6336792" cy="2032110"/>
          </a:xfrm>
          <a:prstGeom prst="rect">
            <a:avLst/>
          </a:prstGeom>
        </p:spPr>
        <p:txBody>
          <a:bodyPr anchor="t">
            <a:normAutofit/>
          </a:bodyPr>
          <a:lstStyle>
            <a:lvl1pPr marL="228600" indent="-228600" algn="l" defTabSz="914400" rtl="0" eaLnBrk="1" latinLnBrk="0" hangingPunct="1">
              <a:lnSpc>
                <a:spcPct val="14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40000"/>
              </a:lnSpc>
              <a:spcBef>
                <a:spcPts val="500"/>
              </a:spcBef>
              <a:buFont typeface="Arial" panose="020B0604020202020204" pitchFamily="34" charset="0"/>
              <a:buChar char="•"/>
              <a:defRPr sz="1200" kern="1200">
                <a:solidFill>
                  <a:schemeClr val="tx1"/>
                </a:solidFill>
                <a:latin typeface="+mn-lt"/>
                <a:ea typeface="+mn-ea"/>
                <a:cs typeface="+mn-cs"/>
              </a:defRPr>
            </a:lvl2pPr>
            <a:lvl3pPr marL="685800" indent="-228600" algn="l" defTabSz="914400" rtl="0" eaLnBrk="1" latinLnBrk="0" hangingPunct="1">
              <a:lnSpc>
                <a:spcPct val="140000"/>
              </a:lnSpc>
              <a:spcBef>
                <a:spcPts val="500"/>
              </a:spcBef>
              <a:buFont typeface="Arial" panose="020B0604020202020204" pitchFamily="34" charset="0"/>
              <a:buChar char="•"/>
              <a:defRPr sz="1100" kern="1200">
                <a:solidFill>
                  <a:schemeClr val="tx1"/>
                </a:solidFill>
                <a:latin typeface="+mn-lt"/>
                <a:ea typeface="+mn-ea"/>
                <a:cs typeface="+mn-cs"/>
              </a:defRPr>
            </a:lvl3pPr>
            <a:lvl4pPr marL="914400" indent="-228600" algn="l" defTabSz="914400" rtl="0" eaLnBrk="1" latinLnBrk="0" hangingPunct="1">
              <a:lnSpc>
                <a:spcPct val="140000"/>
              </a:lnSpc>
              <a:spcBef>
                <a:spcPts val="500"/>
              </a:spcBef>
              <a:buFont typeface="Arial" panose="020B0604020202020204" pitchFamily="34" charset="0"/>
              <a:buChar char="•"/>
              <a:defRPr sz="1050" kern="1200">
                <a:solidFill>
                  <a:schemeClr val="tx1"/>
                </a:solidFill>
                <a:latin typeface="+mn-lt"/>
                <a:ea typeface="+mn-ea"/>
                <a:cs typeface="+mn-cs"/>
              </a:defRPr>
            </a:lvl4pPr>
            <a:lvl5pPr marL="1143000" indent="-228600" algn="l" defTabSz="914400" rtl="0" eaLnBrk="1" latinLnBrk="0" hangingPunct="1">
              <a:lnSpc>
                <a:spcPct val="140000"/>
              </a:lnSpc>
              <a:spcBef>
                <a:spcPts val="500"/>
              </a:spcBef>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t">
              <a:lnSpc>
                <a:spcPts val="1500"/>
              </a:lnSpc>
              <a:buNone/>
            </a:pPr>
            <a:r>
              <a:rPr lang="en-GB" sz="1800" b="1" dirty="0"/>
              <a:t>The enterprise problem</a:t>
            </a:r>
          </a:p>
          <a:p>
            <a:pPr marL="285750" indent="-285750" fontAlgn="t">
              <a:lnSpc>
                <a:spcPts val="1500"/>
              </a:lnSpc>
            </a:pPr>
            <a:r>
              <a:rPr lang="en-GB" dirty="0"/>
              <a:t>Critical delivery context is fragmented across backlog items, emails, docs, meeting notes, and call summaries—leading to </a:t>
            </a:r>
            <a:r>
              <a:rPr lang="en-GB" b="1" dirty="0"/>
              <a:t>incomplete epics</a:t>
            </a:r>
            <a:r>
              <a:rPr lang="en-GB" dirty="0"/>
              <a:t>, slow grooming, and constant “what’s the status?” churn.</a:t>
            </a:r>
          </a:p>
          <a:p>
            <a:pPr marL="285750" indent="-285750" fontAlgn="t">
              <a:lnSpc>
                <a:spcPts val="1500"/>
              </a:lnSpc>
            </a:pPr>
            <a:r>
              <a:rPr lang="en-GB" dirty="0"/>
              <a:t>PM/PO/DM workflows are </a:t>
            </a:r>
            <a:r>
              <a:rPr lang="en-GB" b="1" dirty="0"/>
              <a:t>out of sync with developers and dev tooling</a:t>
            </a:r>
            <a:r>
              <a:rPr lang="en-GB" dirty="0"/>
              <a:t>, creating handoffs and rework, wasting time, and struggling with stale information</a:t>
            </a:r>
          </a:p>
        </p:txBody>
      </p:sp>
      <p:sp>
        <p:nvSpPr>
          <p:cNvPr id="5" name="Text Placeholder 2">
            <a:extLst>
              <a:ext uri="{FF2B5EF4-FFF2-40B4-BE49-F238E27FC236}">
                <a16:creationId xmlns:a16="http://schemas.microsoft.com/office/drawing/2014/main" id="{89DF7D47-0F4B-C487-6AAB-DBF1C6B6B247}"/>
              </a:ext>
            </a:extLst>
          </p:cNvPr>
          <p:cNvSpPr txBox="1">
            <a:spLocks/>
          </p:cNvSpPr>
          <p:nvPr/>
        </p:nvSpPr>
        <p:spPr>
          <a:xfrm>
            <a:off x="461573" y="2644111"/>
            <a:ext cx="6336792" cy="2032110"/>
          </a:xfrm>
          <a:prstGeom prst="rect">
            <a:avLst/>
          </a:prstGeom>
        </p:spPr>
        <p:txBody>
          <a:bodyPr vert="horz" lIns="91440" tIns="45720" rIns="91440" bIns="45720" rtlCol="0" anchor="t">
            <a:normAutofit/>
          </a:bodyPr>
          <a:lstStyle>
            <a:lvl1pPr marL="0" indent="0" algn="l" defTabSz="914400" rtl="0" eaLnBrk="1" latinLnBrk="0" hangingPunct="1">
              <a:lnSpc>
                <a:spcPct val="140000"/>
              </a:lnSpc>
              <a:spcBef>
                <a:spcPts val="1000"/>
              </a:spcBef>
              <a:buFont typeface="Arial" panose="020B0604020202020204" pitchFamily="34" charset="0"/>
              <a:buNone/>
              <a:defRPr sz="1400" kern="1200">
                <a:solidFill>
                  <a:schemeClr val="tx1"/>
                </a:solidFill>
                <a:latin typeface="+mn-lt"/>
                <a:ea typeface="+mn-ea"/>
                <a:cs typeface="+mn-cs"/>
              </a:defRPr>
            </a:lvl1pPr>
            <a:lvl2pPr marL="457200" indent="0" algn="l" defTabSz="914400" rtl="0" eaLnBrk="1" latinLnBrk="0" hangingPunct="1">
              <a:lnSpc>
                <a:spcPct val="14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14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14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14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fontAlgn="t">
              <a:lnSpc>
                <a:spcPts val="1500"/>
              </a:lnSpc>
            </a:pPr>
            <a:r>
              <a:rPr lang="en-GB" sz="1800" b="1" dirty="0"/>
              <a:t>Solution</a:t>
            </a:r>
          </a:p>
          <a:p>
            <a:pPr marL="285750" indent="-285750" fontAlgn="t">
              <a:lnSpc>
                <a:spcPts val="1500"/>
              </a:lnSpc>
              <a:buFont typeface="Arial" panose="020B0604020202020204" pitchFamily="34" charset="0"/>
              <a:buChar char="•"/>
            </a:pPr>
            <a:r>
              <a:rPr lang="en-GB" b="1" dirty="0"/>
              <a:t>Create &amp; refine work items </a:t>
            </a:r>
            <a:r>
              <a:rPr lang="en-GB" dirty="0"/>
              <a:t>in Azure Boards from natural language (“create an epic from my latest meeting notes + email thread”)</a:t>
            </a:r>
          </a:p>
          <a:p>
            <a:pPr marL="285750" indent="-285750" fontAlgn="t">
              <a:lnSpc>
                <a:spcPts val="1500"/>
              </a:lnSpc>
              <a:buFont typeface="Arial" panose="020B0604020202020204" pitchFamily="34" charset="0"/>
              <a:buChar char="•"/>
            </a:pPr>
            <a:r>
              <a:rPr lang="en-GB" b="1" dirty="0"/>
              <a:t>Generate sprint‑ready plans </a:t>
            </a:r>
            <a:r>
              <a:rPr lang="en-GB" dirty="0"/>
              <a:t>(backlog breakdown + priorities) grounded in existing delivery context</a:t>
            </a:r>
          </a:p>
          <a:p>
            <a:pPr marL="285750" indent="-285750" fontAlgn="t">
              <a:lnSpc>
                <a:spcPts val="1500"/>
              </a:lnSpc>
              <a:buFont typeface="Arial" panose="020B0604020202020204" pitchFamily="34" charset="0"/>
              <a:buChar char="•"/>
            </a:pPr>
            <a:r>
              <a:rPr lang="en-GB" b="1" dirty="0"/>
              <a:t>Auto‑draft status updates </a:t>
            </a:r>
            <a:r>
              <a:rPr lang="en-GB" dirty="0"/>
              <a:t>(for stakeholders) based on latest artifacts and work item state.</a:t>
            </a:r>
          </a:p>
        </p:txBody>
      </p:sp>
      <p:sp>
        <p:nvSpPr>
          <p:cNvPr id="6" name="Text Placeholder 2">
            <a:extLst>
              <a:ext uri="{FF2B5EF4-FFF2-40B4-BE49-F238E27FC236}">
                <a16:creationId xmlns:a16="http://schemas.microsoft.com/office/drawing/2014/main" id="{DA5881D4-9C40-E361-6F7E-4EC6EE8B21FA}"/>
              </a:ext>
            </a:extLst>
          </p:cNvPr>
          <p:cNvSpPr txBox="1">
            <a:spLocks/>
          </p:cNvSpPr>
          <p:nvPr/>
        </p:nvSpPr>
        <p:spPr>
          <a:xfrm>
            <a:off x="461573" y="4773990"/>
            <a:ext cx="6336792" cy="2032110"/>
          </a:xfrm>
          <a:prstGeom prst="rect">
            <a:avLst/>
          </a:prstGeom>
        </p:spPr>
        <p:txBody>
          <a:bodyPr vert="horz" lIns="91440" tIns="45720" rIns="91440" bIns="45720" rtlCol="0" anchor="t">
            <a:normAutofit/>
          </a:bodyPr>
          <a:lstStyle>
            <a:lvl1pPr marL="0" indent="0" algn="l" defTabSz="914400" rtl="0" eaLnBrk="1" latinLnBrk="0" hangingPunct="1">
              <a:lnSpc>
                <a:spcPct val="140000"/>
              </a:lnSpc>
              <a:spcBef>
                <a:spcPts val="1000"/>
              </a:spcBef>
              <a:buFont typeface="Arial" panose="020B0604020202020204" pitchFamily="34" charset="0"/>
              <a:buNone/>
              <a:defRPr sz="1400" kern="1200">
                <a:solidFill>
                  <a:schemeClr val="tx1"/>
                </a:solidFill>
                <a:latin typeface="+mn-lt"/>
                <a:ea typeface="+mn-ea"/>
                <a:cs typeface="+mn-cs"/>
              </a:defRPr>
            </a:lvl1pPr>
            <a:lvl2pPr marL="457200" indent="0" algn="l" defTabSz="914400" rtl="0" eaLnBrk="1" latinLnBrk="0" hangingPunct="1">
              <a:lnSpc>
                <a:spcPct val="14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14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14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14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fontAlgn="t">
              <a:lnSpc>
                <a:spcPts val="1500"/>
              </a:lnSpc>
            </a:pPr>
            <a:r>
              <a:rPr lang="en-GB" sz="1800" b="1" dirty="0"/>
              <a:t>Business value</a:t>
            </a:r>
          </a:p>
          <a:p>
            <a:pPr marL="285750" indent="-285750">
              <a:buFont typeface="Arial" panose="020B0604020202020204" pitchFamily="34" charset="0"/>
              <a:buChar char="•"/>
            </a:pPr>
            <a:r>
              <a:rPr lang="en-GB" b="1" dirty="0"/>
              <a:t>Reduction in context-switching </a:t>
            </a:r>
            <a:r>
              <a:rPr lang="en-GB" dirty="0"/>
              <a:t>for PMs between tools</a:t>
            </a:r>
          </a:p>
          <a:p>
            <a:pPr marL="285750" indent="-285750">
              <a:buFont typeface="Arial" panose="020B0604020202020204" pitchFamily="34" charset="0"/>
              <a:buChar char="•"/>
            </a:pPr>
            <a:r>
              <a:rPr lang="en-GB" b="1" dirty="0"/>
              <a:t>Real-time project visibility </a:t>
            </a:r>
            <a:r>
              <a:rPr lang="en-GB" dirty="0"/>
              <a:t>without developer interruption</a:t>
            </a:r>
          </a:p>
          <a:p>
            <a:pPr marL="285750" indent="-285750">
              <a:buFont typeface="Arial" panose="020B0604020202020204" pitchFamily="34" charset="0"/>
              <a:buChar char="•"/>
            </a:pPr>
            <a:r>
              <a:rPr lang="en-GB" b="1" dirty="0"/>
              <a:t>Reusable enterprise pattern</a:t>
            </a:r>
            <a:r>
              <a:rPr lang="en-GB" dirty="0"/>
              <a:t>: Copilot SDK + Work IQ MCP = customizable AI workflows</a:t>
            </a:r>
          </a:p>
        </p:txBody>
      </p:sp>
      <p:pic>
        <p:nvPicPr>
          <p:cNvPr id="7" name="Picture Placeholder 10">
            <a:extLst>
              <a:ext uri="{FF2B5EF4-FFF2-40B4-BE49-F238E27FC236}">
                <a16:creationId xmlns:a16="http://schemas.microsoft.com/office/drawing/2014/main" id="{DB63C4E0-08E7-5708-8BD3-E511FCB373B6}"/>
              </a:ext>
            </a:extLst>
          </p:cNvPr>
          <p:cNvPicPr>
            <a:picLocks noChangeAspect="1"/>
          </p:cNvPicPr>
          <p:nvPr/>
        </p:nvPicPr>
        <p:blipFill>
          <a:blip r:embed="rId3">
            <a:extLst>
              <a:ext uri="{28A0092B-C50C-407E-A947-70E740481C1C}">
                <a14:useLocalDpi xmlns:a14="http://schemas.microsoft.com/office/drawing/2010/main" val="0"/>
              </a:ext>
            </a:extLst>
          </a:blip>
          <a:stretch/>
        </p:blipFill>
        <p:spPr>
          <a:xfrm>
            <a:off x="7652276" y="329428"/>
            <a:ext cx="3081985" cy="2054657"/>
          </a:xfrm>
          <a:custGeom>
            <a:avLst/>
            <a:gdLst>
              <a:gd name="connsiteX0" fmla="*/ 2585482 w 5170964"/>
              <a:gd name="connsiteY0" fmla="*/ 0 h 5170964"/>
              <a:gd name="connsiteX1" fmla="*/ 5170964 w 5170964"/>
              <a:gd name="connsiteY1" fmla="*/ 2585482 h 5170964"/>
              <a:gd name="connsiteX2" fmla="*/ 2585482 w 5170964"/>
              <a:gd name="connsiteY2" fmla="*/ 5170964 h 5170964"/>
              <a:gd name="connsiteX3" fmla="*/ 0 w 5170964"/>
              <a:gd name="connsiteY3" fmla="*/ 2585482 h 5170964"/>
              <a:gd name="connsiteX4" fmla="*/ 2585482 w 5170964"/>
              <a:gd name="connsiteY4" fmla="*/ 0 h 5170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70964" h="5170964">
                <a:moveTo>
                  <a:pt x="2585482" y="0"/>
                </a:moveTo>
                <a:cubicBezTo>
                  <a:pt x="4013405" y="0"/>
                  <a:pt x="5170964" y="1157560"/>
                  <a:pt x="5170964" y="2585482"/>
                </a:cubicBezTo>
                <a:cubicBezTo>
                  <a:pt x="5170964" y="4013405"/>
                  <a:pt x="4013405" y="5170964"/>
                  <a:pt x="2585482" y="5170964"/>
                </a:cubicBezTo>
                <a:cubicBezTo>
                  <a:pt x="1157560" y="5170964"/>
                  <a:pt x="0" y="4013405"/>
                  <a:pt x="0" y="2585482"/>
                </a:cubicBezTo>
                <a:cubicBezTo>
                  <a:pt x="0" y="1157560"/>
                  <a:pt x="1157560" y="0"/>
                  <a:pt x="2585482" y="0"/>
                </a:cubicBezTo>
                <a:close/>
              </a:path>
            </a:pathLst>
          </a:custGeom>
        </p:spPr>
      </p:pic>
      <p:sp>
        <p:nvSpPr>
          <p:cNvPr id="8" name="TextBox 7">
            <a:extLst>
              <a:ext uri="{FF2B5EF4-FFF2-40B4-BE49-F238E27FC236}">
                <a16:creationId xmlns:a16="http://schemas.microsoft.com/office/drawing/2014/main" id="{261EA3EC-94B2-929E-5925-923D36A84884}"/>
              </a:ext>
            </a:extLst>
          </p:cNvPr>
          <p:cNvSpPr txBox="1"/>
          <p:nvPr/>
        </p:nvSpPr>
        <p:spPr>
          <a:xfrm>
            <a:off x="7219784" y="6432605"/>
            <a:ext cx="4818491" cy="307777"/>
          </a:xfrm>
          <a:prstGeom prst="rect">
            <a:avLst/>
          </a:prstGeom>
          <a:noFill/>
        </p:spPr>
        <p:txBody>
          <a:bodyPr wrap="square" rtlCol="0">
            <a:spAutoFit/>
          </a:bodyPr>
          <a:lstStyle/>
          <a:p>
            <a:r>
              <a:rPr lang="en-GB" sz="1400" dirty="0">
                <a:hlinkClick r:id="rId4"/>
              </a:rPr>
              <a:t>Repo</a:t>
            </a:r>
            <a:r>
              <a:rPr lang="en-GB" sz="1400" dirty="0"/>
              <a:t> | </a:t>
            </a:r>
            <a:r>
              <a:rPr lang="en-GB" sz="1400" dirty="0">
                <a:hlinkClick r:id="rId4"/>
              </a:rPr>
              <a:t>Video</a:t>
            </a:r>
            <a:r>
              <a:rPr lang="en-GB" sz="1400" dirty="0"/>
              <a:t> | Questions? </a:t>
            </a:r>
            <a:r>
              <a:rPr lang="en-GB" sz="1400" dirty="0">
                <a:hlinkClick r:id="rId5"/>
              </a:rPr>
              <a:t>Maxim Salnikov</a:t>
            </a:r>
            <a:endParaRPr lang="en-GB" sz="1400" dirty="0"/>
          </a:p>
        </p:txBody>
      </p:sp>
      <p:sp>
        <p:nvSpPr>
          <p:cNvPr id="10" name="TextBox 9">
            <a:extLst>
              <a:ext uri="{FF2B5EF4-FFF2-40B4-BE49-F238E27FC236}">
                <a16:creationId xmlns:a16="http://schemas.microsoft.com/office/drawing/2014/main" id="{6E2ECEC2-F3F2-DE6C-D903-880A31652403}"/>
              </a:ext>
            </a:extLst>
          </p:cNvPr>
          <p:cNvSpPr txBox="1"/>
          <p:nvPr/>
        </p:nvSpPr>
        <p:spPr>
          <a:xfrm rot="21047414">
            <a:off x="7958338" y="5395778"/>
            <a:ext cx="3235438" cy="599271"/>
          </a:xfrm>
          <a:prstGeom prst="rect">
            <a:avLst/>
          </a:prstGeom>
          <a:solidFill>
            <a:schemeClr val="bg2">
              <a:lumMod val="90000"/>
            </a:schemeClr>
          </a:solidFill>
        </p:spPr>
        <p:txBody>
          <a:bodyPr wrap="square" anchor="ctr">
            <a:noAutofit/>
          </a:bodyPr>
          <a:lstStyle/>
          <a:p>
            <a:pPr algn="ctr">
              <a:lnSpc>
                <a:spcPts val="1425"/>
              </a:lnSpc>
              <a:buNone/>
            </a:pPr>
            <a:r>
              <a:rPr lang="en-GB" dirty="0">
                <a:solidFill>
                  <a:schemeClr val="accent1">
                    <a:lumMod val="50000"/>
                  </a:schemeClr>
                </a:solidFill>
              </a:rPr>
              <a:t>Built to solve a </a:t>
            </a:r>
            <a:r>
              <a:rPr lang="en-GB" b="1" dirty="0">
                <a:solidFill>
                  <a:schemeClr val="accent1">
                    <a:lumMod val="50000"/>
                  </a:schemeClr>
                </a:solidFill>
              </a:rPr>
              <a:t>real</a:t>
            </a:r>
            <a:r>
              <a:rPr lang="en-GB" dirty="0">
                <a:solidFill>
                  <a:schemeClr val="accent1">
                    <a:lumMod val="50000"/>
                  </a:schemeClr>
                </a:solidFill>
              </a:rPr>
              <a:t> enterprise customer case</a:t>
            </a:r>
          </a:p>
        </p:txBody>
      </p:sp>
    </p:spTree>
    <p:extLst>
      <p:ext uri="{BB962C8B-B14F-4D97-AF65-F5344CB8AC3E}">
        <p14:creationId xmlns:p14="http://schemas.microsoft.com/office/powerpoint/2010/main" val="22365539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DD309-5D0A-3D58-C4E7-D9BF9A936F9F}"/>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67265039-5E28-CBFF-75D5-1E622F342A3A}"/>
              </a:ext>
            </a:extLst>
          </p:cNvPr>
          <p:cNvPicPr>
            <a:picLocks noChangeAspect="1"/>
          </p:cNvPicPr>
          <p:nvPr/>
        </p:nvPicPr>
        <p:blipFill>
          <a:blip r:embed="rId3"/>
          <a:stretch>
            <a:fillRect/>
          </a:stretch>
        </p:blipFill>
        <p:spPr>
          <a:xfrm>
            <a:off x="515609" y="2883095"/>
            <a:ext cx="8229145" cy="2092961"/>
          </a:xfrm>
          <a:prstGeom prst="rect">
            <a:avLst/>
          </a:prstGeom>
        </p:spPr>
      </p:pic>
      <p:sp>
        <p:nvSpPr>
          <p:cNvPr id="6" name="Text Placeholder 2">
            <a:extLst>
              <a:ext uri="{FF2B5EF4-FFF2-40B4-BE49-F238E27FC236}">
                <a16:creationId xmlns:a16="http://schemas.microsoft.com/office/drawing/2014/main" id="{7FD8D1B1-D39B-CDB5-EA65-EA71F295F570}"/>
              </a:ext>
            </a:extLst>
          </p:cNvPr>
          <p:cNvSpPr txBox="1">
            <a:spLocks/>
          </p:cNvSpPr>
          <p:nvPr/>
        </p:nvSpPr>
        <p:spPr>
          <a:xfrm>
            <a:off x="461573" y="435500"/>
            <a:ext cx="7640806" cy="1625466"/>
          </a:xfrm>
          <a:prstGeom prst="rect">
            <a:avLst/>
          </a:prstGeom>
        </p:spPr>
        <p:txBody>
          <a:bodyPr vert="horz" lIns="91440" tIns="45720" rIns="91440" bIns="45720" rtlCol="0" anchor="t">
            <a:normAutofit/>
          </a:bodyPr>
          <a:lstStyle>
            <a:lvl1pPr marL="0" indent="0" algn="l" defTabSz="914400" rtl="0" eaLnBrk="1" latinLnBrk="0" hangingPunct="1">
              <a:lnSpc>
                <a:spcPct val="140000"/>
              </a:lnSpc>
              <a:spcBef>
                <a:spcPts val="1000"/>
              </a:spcBef>
              <a:buFont typeface="Arial" panose="020B0604020202020204" pitchFamily="34" charset="0"/>
              <a:buNone/>
              <a:defRPr sz="1400" kern="1200">
                <a:solidFill>
                  <a:schemeClr val="tx1"/>
                </a:solidFill>
                <a:latin typeface="+mn-lt"/>
                <a:ea typeface="+mn-ea"/>
                <a:cs typeface="+mn-cs"/>
              </a:defRPr>
            </a:lvl1pPr>
            <a:lvl2pPr marL="457200" indent="0" algn="l" defTabSz="914400" rtl="0" eaLnBrk="1" latinLnBrk="0" hangingPunct="1">
              <a:lnSpc>
                <a:spcPct val="14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14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14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14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fontAlgn="t">
              <a:lnSpc>
                <a:spcPts val="1500"/>
              </a:lnSpc>
            </a:pPr>
            <a:r>
              <a:rPr lang="en-GB" sz="1800" b="1" dirty="0"/>
              <a:t>Key Differentiators</a:t>
            </a:r>
          </a:p>
          <a:p>
            <a:pPr marL="285750" indent="-285750">
              <a:buFont typeface="Arial" panose="020B0604020202020204" pitchFamily="34" charset="0"/>
              <a:buChar char="•"/>
            </a:pPr>
            <a:r>
              <a:rPr lang="en-GB" b="1" dirty="0"/>
              <a:t>Security / RAI </a:t>
            </a:r>
            <a:r>
              <a:rPr lang="en-GB" dirty="0"/>
              <a:t>— signed-in user context, human-in-the-loop by design</a:t>
            </a:r>
          </a:p>
          <a:p>
            <a:pPr marL="285750" indent="-285750">
              <a:buFont typeface="Arial" panose="020B0604020202020204" pitchFamily="34" charset="0"/>
              <a:buChar char="•"/>
            </a:pPr>
            <a:r>
              <a:rPr lang="en-GB" b="1" dirty="0"/>
              <a:t>Work IQ MCP architecture </a:t>
            </a:r>
            <a:r>
              <a:rPr lang="en-GB" dirty="0"/>
              <a:t>— extensible to any data source</a:t>
            </a:r>
          </a:p>
          <a:p>
            <a:pPr marL="285750" indent="-285750">
              <a:buFont typeface="Arial" panose="020B0604020202020204" pitchFamily="34" charset="0"/>
              <a:buChar char="•"/>
            </a:pPr>
            <a:r>
              <a:rPr lang="en-GB" b="1" dirty="0"/>
              <a:t>Operational readiness</a:t>
            </a:r>
            <a:r>
              <a:rPr lang="en-GB" dirty="0"/>
              <a:t>: containerized, CI/CD, observability, security hardened</a:t>
            </a:r>
          </a:p>
        </p:txBody>
      </p:sp>
      <p:pic>
        <p:nvPicPr>
          <p:cNvPr id="16" name="Picture 15">
            <a:extLst>
              <a:ext uri="{FF2B5EF4-FFF2-40B4-BE49-F238E27FC236}">
                <a16:creationId xmlns:a16="http://schemas.microsoft.com/office/drawing/2014/main" id="{E9AF5AB5-B0DA-02BF-53FE-4089A9CD48A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66337" y="254858"/>
            <a:ext cx="4164089" cy="2447595"/>
          </a:xfrm>
          <a:prstGeom prst="rect">
            <a:avLst/>
          </a:prstGeom>
        </p:spPr>
      </p:pic>
      <p:sp>
        <p:nvSpPr>
          <p:cNvPr id="24" name="Text Placeholder 2">
            <a:extLst>
              <a:ext uri="{FF2B5EF4-FFF2-40B4-BE49-F238E27FC236}">
                <a16:creationId xmlns:a16="http://schemas.microsoft.com/office/drawing/2014/main" id="{63FD9F25-7784-3F6C-128C-85E7D5657739}"/>
              </a:ext>
            </a:extLst>
          </p:cNvPr>
          <p:cNvSpPr txBox="1">
            <a:spLocks/>
          </p:cNvSpPr>
          <p:nvPr/>
        </p:nvSpPr>
        <p:spPr>
          <a:xfrm>
            <a:off x="461573" y="2437140"/>
            <a:ext cx="3712862" cy="1952598"/>
          </a:xfrm>
          <a:prstGeom prst="rect">
            <a:avLst/>
          </a:prstGeom>
        </p:spPr>
        <p:txBody>
          <a:bodyPr anchor="t">
            <a:normAutofit/>
          </a:bodyPr>
          <a:lstStyle>
            <a:lvl1pPr marL="228600" indent="-228600" algn="l" defTabSz="914400" rtl="0" eaLnBrk="1" latinLnBrk="0" hangingPunct="1">
              <a:lnSpc>
                <a:spcPct val="14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40000"/>
              </a:lnSpc>
              <a:spcBef>
                <a:spcPts val="500"/>
              </a:spcBef>
              <a:buFont typeface="Arial" panose="020B0604020202020204" pitchFamily="34" charset="0"/>
              <a:buChar char="•"/>
              <a:defRPr sz="1200" kern="1200">
                <a:solidFill>
                  <a:schemeClr val="tx1"/>
                </a:solidFill>
                <a:latin typeface="+mn-lt"/>
                <a:ea typeface="+mn-ea"/>
                <a:cs typeface="+mn-cs"/>
              </a:defRPr>
            </a:lvl2pPr>
            <a:lvl3pPr marL="685800" indent="-228600" algn="l" defTabSz="914400" rtl="0" eaLnBrk="1" latinLnBrk="0" hangingPunct="1">
              <a:lnSpc>
                <a:spcPct val="140000"/>
              </a:lnSpc>
              <a:spcBef>
                <a:spcPts val="500"/>
              </a:spcBef>
              <a:buFont typeface="Arial" panose="020B0604020202020204" pitchFamily="34" charset="0"/>
              <a:buChar char="•"/>
              <a:defRPr sz="1100" kern="1200">
                <a:solidFill>
                  <a:schemeClr val="tx1"/>
                </a:solidFill>
                <a:latin typeface="+mn-lt"/>
                <a:ea typeface="+mn-ea"/>
                <a:cs typeface="+mn-cs"/>
              </a:defRPr>
            </a:lvl3pPr>
            <a:lvl4pPr marL="914400" indent="-228600" algn="l" defTabSz="914400" rtl="0" eaLnBrk="1" latinLnBrk="0" hangingPunct="1">
              <a:lnSpc>
                <a:spcPct val="140000"/>
              </a:lnSpc>
              <a:spcBef>
                <a:spcPts val="500"/>
              </a:spcBef>
              <a:buFont typeface="Arial" panose="020B0604020202020204" pitchFamily="34" charset="0"/>
              <a:buChar char="•"/>
              <a:defRPr sz="1050" kern="1200">
                <a:solidFill>
                  <a:schemeClr val="tx1"/>
                </a:solidFill>
                <a:latin typeface="+mn-lt"/>
                <a:ea typeface="+mn-ea"/>
                <a:cs typeface="+mn-cs"/>
              </a:defRPr>
            </a:lvl4pPr>
            <a:lvl5pPr marL="1143000" indent="-228600" algn="l" defTabSz="914400" rtl="0" eaLnBrk="1" latinLnBrk="0" hangingPunct="1">
              <a:lnSpc>
                <a:spcPct val="140000"/>
              </a:lnSpc>
              <a:spcBef>
                <a:spcPts val="500"/>
              </a:spcBef>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t">
              <a:lnSpc>
                <a:spcPts val="1500"/>
              </a:lnSpc>
              <a:buNone/>
            </a:pPr>
            <a:r>
              <a:rPr lang="en-GB" sz="1800" b="1" dirty="0"/>
              <a:t>Architecture diagram</a:t>
            </a:r>
          </a:p>
        </p:txBody>
      </p:sp>
      <p:sp>
        <p:nvSpPr>
          <p:cNvPr id="2" name="Text Placeholder 2">
            <a:extLst>
              <a:ext uri="{FF2B5EF4-FFF2-40B4-BE49-F238E27FC236}">
                <a16:creationId xmlns:a16="http://schemas.microsoft.com/office/drawing/2014/main" id="{556015F5-9662-9C89-12C4-3F04F7299849}"/>
              </a:ext>
            </a:extLst>
          </p:cNvPr>
          <p:cNvSpPr txBox="1">
            <a:spLocks/>
          </p:cNvSpPr>
          <p:nvPr/>
        </p:nvSpPr>
        <p:spPr>
          <a:xfrm>
            <a:off x="567125" y="4856419"/>
            <a:ext cx="3712862" cy="1952598"/>
          </a:xfrm>
          <a:prstGeom prst="rect">
            <a:avLst/>
          </a:prstGeom>
        </p:spPr>
        <p:txBody>
          <a:bodyPr anchor="t">
            <a:normAutofit/>
          </a:bodyPr>
          <a:lstStyle>
            <a:lvl1pPr marL="228600" indent="-228600" algn="l" defTabSz="914400" rtl="0" eaLnBrk="1" latinLnBrk="0" hangingPunct="1">
              <a:lnSpc>
                <a:spcPct val="14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40000"/>
              </a:lnSpc>
              <a:spcBef>
                <a:spcPts val="500"/>
              </a:spcBef>
              <a:buFont typeface="Arial" panose="020B0604020202020204" pitchFamily="34" charset="0"/>
              <a:buChar char="•"/>
              <a:defRPr sz="1200" kern="1200">
                <a:solidFill>
                  <a:schemeClr val="tx1"/>
                </a:solidFill>
                <a:latin typeface="+mn-lt"/>
                <a:ea typeface="+mn-ea"/>
                <a:cs typeface="+mn-cs"/>
              </a:defRPr>
            </a:lvl2pPr>
            <a:lvl3pPr marL="685800" indent="-228600" algn="l" defTabSz="914400" rtl="0" eaLnBrk="1" latinLnBrk="0" hangingPunct="1">
              <a:lnSpc>
                <a:spcPct val="140000"/>
              </a:lnSpc>
              <a:spcBef>
                <a:spcPts val="500"/>
              </a:spcBef>
              <a:buFont typeface="Arial" panose="020B0604020202020204" pitchFamily="34" charset="0"/>
              <a:buChar char="•"/>
              <a:defRPr sz="1100" kern="1200">
                <a:solidFill>
                  <a:schemeClr val="tx1"/>
                </a:solidFill>
                <a:latin typeface="+mn-lt"/>
                <a:ea typeface="+mn-ea"/>
                <a:cs typeface="+mn-cs"/>
              </a:defRPr>
            </a:lvl3pPr>
            <a:lvl4pPr marL="914400" indent="-228600" algn="l" defTabSz="914400" rtl="0" eaLnBrk="1" latinLnBrk="0" hangingPunct="1">
              <a:lnSpc>
                <a:spcPct val="140000"/>
              </a:lnSpc>
              <a:spcBef>
                <a:spcPts val="500"/>
              </a:spcBef>
              <a:buFont typeface="Arial" panose="020B0604020202020204" pitchFamily="34" charset="0"/>
              <a:buChar char="•"/>
              <a:defRPr sz="1050" kern="1200">
                <a:solidFill>
                  <a:schemeClr val="tx1"/>
                </a:solidFill>
                <a:latin typeface="+mn-lt"/>
                <a:ea typeface="+mn-ea"/>
                <a:cs typeface="+mn-cs"/>
              </a:defRPr>
            </a:lvl4pPr>
            <a:lvl5pPr marL="1143000" indent="-228600" algn="l" defTabSz="914400" rtl="0" eaLnBrk="1" latinLnBrk="0" hangingPunct="1">
              <a:lnSpc>
                <a:spcPct val="140000"/>
              </a:lnSpc>
              <a:spcBef>
                <a:spcPts val="500"/>
              </a:spcBef>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t">
              <a:lnSpc>
                <a:spcPts val="1500"/>
              </a:lnSpc>
              <a:buNone/>
            </a:pPr>
            <a:r>
              <a:rPr lang="en-GB" sz="1800" b="1" dirty="0"/>
              <a:t>Technical stack</a:t>
            </a:r>
          </a:p>
          <a:p>
            <a:r>
              <a:rPr lang="en-GB" sz="1200" dirty="0"/>
              <a:t>GitHub Copilot SDK (agent core)</a:t>
            </a:r>
          </a:p>
          <a:p>
            <a:r>
              <a:rPr lang="en-GB" sz="1200" dirty="0"/>
              <a:t>Work IQ MCP (Microsoft 365 integration)</a:t>
            </a:r>
          </a:p>
          <a:p>
            <a:r>
              <a:rPr lang="en-GB" sz="1200" dirty="0"/>
              <a:t>Azure DevOps CLI (Azure Boards ops)</a:t>
            </a:r>
          </a:p>
          <a:p>
            <a:r>
              <a:rPr lang="en-GB" sz="1200" dirty="0"/>
              <a:t>Node.js / Express / TypeScript (backend)</a:t>
            </a:r>
          </a:p>
        </p:txBody>
      </p:sp>
      <p:sp>
        <p:nvSpPr>
          <p:cNvPr id="3" name="Text Placeholder 2">
            <a:extLst>
              <a:ext uri="{FF2B5EF4-FFF2-40B4-BE49-F238E27FC236}">
                <a16:creationId xmlns:a16="http://schemas.microsoft.com/office/drawing/2014/main" id="{7A781DE3-6AE0-D099-3267-84177DCB8F99}"/>
              </a:ext>
            </a:extLst>
          </p:cNvPr>
          <p:cNvSpPr txBox="1">
            <a:spLocks/>
          </p:cNvSpPr>
          <p:nvPr/>
        </p:nvSpPr>
        <p:spPr>
          <a:xfrm>
            <a:off x="4128911" y="4856419"/>
            <a:ext cx="3568545" cy="1952598"/>
          </a:xfrm>
          <a:prstGeom prst="rect">
            <a:avLst/>
          </a:prstGeom>
        </p:spPr>
        <p:txBody>
          <a:bodyPr anchor="t">
            <a:normAutofit/>
          </a:bodyPr>
          <a:lstStyle>
            <a:lvl1pPr marL="228600" indent="-228600" algn="l" defTabSz="914400" rtl="0" eaLnBrk="1" latinLnBrk="0" hangingPunct="1">
              <a:lnSpc>
                <a:spcPct val="14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40000"/>
              </a:lnSpc>
              <a:spcBef>
                <a:spcPts val="500"/>
              </a:spcBef>
              <a:buFont typeface="Arial" panose="020B0604020202020204" pitchFamily="34" charset="0"/>
              <a:buChar char="•"/>
              <a:defRPr sz="1200" kern="1200">
                <a:solidFill>
                  <a:schemeClr val="tx1"/>
                </a:solidFill>
                <a:latin typeface="+mn-lt"/>
                <a:ea typeface="+mn-ea"/>
                <a:cs typeface="+mn-cs"/>
              </a:defRPr>
            </a:lvl2pPr>
            <a:lvl3pPr marL="685800" indent="-228600" algn="l" defTabSz="914400" rtl="0" eaLnBrk="1" latinLnBrk="0" hangingPunct="1">
              <a:lnSpc>
                <a:spcPct val="140000"/>
              </a:lnSpc>
              <a:spcBef>
                <a:spcPts val="500"/>
              </a:spcBef>
              <a:buFont typeface="Arial" panose="020B0604020202020204" pitchFamily="34" charset="0"/>
              <a:buChar char="•"/>
              <a:defRPr sz="1100" kern="1200">
                <a:solidFill>
                  <a:schemeClr val="tx1"/>
                </a:solidFill>
                <a:latin typeface="+mn-lt"/>
                <a:ea typeface="+mn-ea"/>
                <a:cs typeface="+mn-cs"/>
              </a:defRPr>
            </a:lvl3pPr>
            <a:lvl4pPr marL="914400" indent="-228600" algn="l" defTabSz="914400" rtl="0" eaLnBrk="1" latinLnBrk="0" hangingPunct="1">
              <a:lnSpc>
                <a:spcPct val="140000"/>
              </a:lnSpc>
              <a:spcBef>
                <a:spcPts val="500"/>
              </a:spcBef>
              <a:buFont typeface="Arial" panose="020B0604020202020204" pitchFamily="34" charset="0"/>
              <a:buChar char="•"/>
              <a:defRPr sz="1050" kern="1200">
                <a:solidFill>
                  <a:schemeClr val="tx1"/>
                </a:solidFill>
                <a:latin typeface="+mn-lt"/>
                <a:ea typeface="+mn-ea"/>
                <a:cs typeface="+mn-cs"/>
              </a:defRPr>
            </a:lvl4pPr>
            <a:lvl5pPr marL="1143000" indent="-228600" algn="l" defTabSz="914400" rtl="0" eaLnBrk="1" latinLnBrk="0" hangingPunct="1">
              <a:lnSpc>
                <a:spcPct val="140000"/>
              </a:lnSpc>
              <a:spcBef>
                <a:spcPts val="500"/>
              </a:spcBef>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t">
              <a:lnSpc>
                <a:spcPts val="1500"/>
              </a:lnSpc>
              <a:buNone/>
            </a:pPr>
            <a:r>
              <a:rPr lang="en-GB" sz="1800" b="1" dirty="0"/>
              <a:t> </a:t>
            </a:r>
          </a:p>
          <a:p>
            <a:pPr marL="171450" indent="-171450"/>
            <a:r>
              <a:rPr lang="en-GB" sz="1200" dirty="0"/>
              <a:t>Azure Container Apps + Bicep</a:t>
            </a:r>
          </a:p>
          <a:p>
            <a:pPr marL="171450" indent="-171450"/>
            <a:r>
              <a:rPr lang="en-GB" sz="1200" dirty="0"/>
              <a:t>Application Insights</a:t>
            </a:r>
          </a:p>
          <a:p>
            <a:pPr marL="171450" indent="-171450"/>
            <a:r>
              <a:rPr lang="en-GB" sz="1200" dirty="0"/>
              <a:t>GitHub Actions</a:t>
            </a:r>
          </a:p>
        </p:txBody>
      </p:sp>
      <p:sp>
        <p:nvSpPr>
          <p:cNvPr id="5" name="TextBox 4">
            <a:extLst>
              <a:ext uri="{FF2B5EF4-FFF2-40B4-BE49-F238E27FC236}">
                <a16:creationId xmlns:a16="http://schemas.microsoft.com/office/drawing/2014/main" id="{959FC04C-7E11-F53C-3812-372361BA695A}"/>
              </a:ext>
            </a:extLst>
          </p:cNvPr>
          <p:cNvSpPr txBox="1"/>
          <p:nvPr/>
        </p:nvSpPr>
        <p:spPr>
          <a:xfrm rot="21047414">
            <a:off x="7983097" y="5393784"/>
            <a:ext cx="3235438" cy="908657"/>
          </a:xfrm>
          <a:prstGeom prst="rect">
            <a:avLst/>
          </a:prstGeom>
          <a:solidFill>
            <a:schemeClr val="bg2">
              <a:lumMod val="90000"/>
            </a:schemeClr>
          </a:solidFill>
        </p:spPr>
        <p:txBody>
          <a:bodyPr wrap="square" anchor="ctr">
            <a:noAutofit/>
          </a:bodyPr>
          <a:lstStyle/>
          <a:p>
            <a:pPr algn="ctr">
              <a:lnSpc>
                <a:spcPts val="1425"/>
              </a:lnSpc>
              <a:buNone/>
            </a:pPr>
            <a:r>
              <a:rPr lang="en-GB" dirty="0">
                <a:solidFill>
                  <a:schemeClr val="accent1">
                    <a:lumMod val="50000"/>
                  </a:schemeClr>
                </a:solidFill>
              </a:rPr>
              <a:t>Amplification-ready story: Repeatable enterprise workflow pattern</a:t>
            </a:r>
          </a:p>
        </p:txBody>
      </p:sp>
    </p:spTree>
    <p:extLst>
      <p:ext uri="{BB962C8B-B14F-4D97-AF65-F5344CB8AC3E}">
        <p14:creationId xmlns:p14="http://schemas.microsoft.com/office/powerpoint/2010/main" val="1473868943"/>
      </p:ext>
    </p:extLst>
  </p:cSld>
  <p:clrMapOvr>
    <a:masterClrMapping/>
  </p:clrMapOvr>
</p:sld>
</file>

<file path=ppt/theme/theme1.xml><?xml version="1.0" encoding="utf-8"?>
<a:theme xmlns:a="http://schemas.openxmlformats.org/drawingml/2006/main" name="Gradient Circle">
  <a:themeElements>
    <a:clrScheme name="Custom 2">
      <a:dk1>
        <a:sysClr val="windowText" lastClr="000000"/>
      </a:dk1>
      <a:lt1>
        <a:sysClr val="window" lastClr="FFFFFF"/>
      </a:lt1>
      <a:dk2>
        <a:srgbClr val="2C3932"/>
      </a:dk2>
      <a:lt2>
        <a:srgbClr val="FDF6EA"/>
      </a:lt2>
      <a:accent1>
        <a:srgbClr val="F0D4DB"/>
      </a:accent1>
      <a:accent2>
        <a:srgbClr val="DBE7F5"/>
      </a:accent2>
      <a:accent3>
        <a:srgbClr val="C9E2D6"/>
      </a:accent3>
      <a:accent4>
        <a:srgbClr val="BABAD6"/>
      </a:accent4>
      <a:accent5>
        <a:srgbClr val="F0D2BF"/>
      </a:accent5>
      <a:accent6>
        <a:srgbClr val="F3E49A"/>
      </a:accent6>
      <a:hlink>
        <a:srgbClr val="7030A0"/>
      </a:hlink>
      <a:folHlink>
        <a:srgbClr val="107573"/>
      </a:folHlink>
    </a:clrScheme>
    <a:fontScheme name="Custom 10">
      <a:majorFont>
        <a:latin typeface="Lora"/>
        <a:ea typeface=""/>
        <a:cs typeface=""/>
      </a:majorFont>
      <a:minorFont>
        <a:latin typeface="Poppin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 Circle_Keynote Presentation_win32_LW_V6" id="{670309C8-2C38-4CFF-82BA-AF197439C521}" vid="{43F42362-DC95-4CBA-A0A2-5C03B532E6C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76F8FCD-0A1F-4F6A-8F55-15E9E87E2E4C}">
  <ds:schemaRefs>
    <ds:schemaRef ds:uri="http://schemas.microsoft.com/sharepoint/v3/contenttype/forms"/>
  </ds:schemaRefs>
</ds:datastoreItem>
</file>

<file path=customXml/itemProps2.xml><?xml version="1.0" encoding="utf-8"?>
<ds:datastoreItem xmlns:ds="http://schemas.openxmlformats.org/officeDocument/2006/customXml" ds:itemID="{EF782DA7-86C0-4A84-A860-11A1E6E3FB6B}">
  <ds:schemaRefs>
    <ds:schemaRef ds:uri="http://www.w3.org/XML/1998/namespace"/>
    <ds:schemaRef ds:uri="http://schemas.microsoft.com/office/2006/documentManagement/types"/>
    <ds:schemaRef ds:uri="http://purl.org/dc/elements/1.1/"/>
    <ds:schemaRef ds:uri="http://purl.org/dc/terms/"/>
    <ds:schemaRef ds:uri="http://purl.org/dc/dcmitype/"/>
    <ds:schemaRef ds:uri="http://schemas.microsoft.com/office/infopath/2007/PartnerControls"/>
    <ds:schemaRef ds:uri="71af3243-3dd4-4a8d-8c0d-dd76da1f02a5"/>
    <ds:schemaRef ds:uri="http://schemas.microsoft.com/sharepoint/v3"/>
    <ds:schemaRef ds:uri="http://schemas.microsoft.com/office/2006/metadata/properties"/>
    <ds:schemaRef ds:uri="http://schemas.openxmlformats.org/package/2006/metadata/core-properties"/>
    <ds:schemaRef ds:uri="230e9df3-be65-4c73-a93b-d1236ebd677e"/>
    <ds:schemaRef ds:uri="16c05727-aa75-4e4a-9b5f-8a80a1165891"/>
  </ds:schemaRefs>
</ds:datastoreItem>
</file>

<file path=customXml/itemProps3.xml><?xml version="1.0" encoding="utf-8"?>
<ds:datastoreItem xmlns:ds="http://schemas.openxmlformats.org/officeDocument/2006/customXml" ds:itemID="{83A9C388-2C06-4AF2-857C-74055069A29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87ba5c36-b7cf-4793-bbc2-bd5b3a9f95ca}"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{B090D925-B416-4D26-A70E-063E3DD8FCAA}f4c2fa09-5552-4190-875c-1979579583e2-TFc553d604-a3b6-4c52-b2ed-3a769335c0fd_win32</Template>
  <TotalTime>0</TotalTime>
  <Words>642</Words>
  <Application>Microsoft Office PowerPoint</Application>
  <PresentationFormat>Widescreen</PresentationFormat>
  <Paragraphs>50</Paragraphs>
  <Slides>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Aptos</vt:lpstr>
      <vt:lpstr>Arial</vt:lpstr>
      <vt:lpstr>Lora</vt:lpstr>
      <vt:lpstr>Poppins Light</vt:lpstr>
      <vt:lpstr>Gradient Circle</vt:lpstr>
      <vt:lpstr>AI-Powered backlog Assistant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Maxim Salnikov</dc:creator>
  <cp:lastModifiedBy>Maxim Salnikov</cp:lastModifiedBy>
  <cp:revision>12</cp:revision>
  <dcterms:created xsi:type="dcterms:W3CDTF">2026-03-05T18:33:19Z</dcterms:created>
  <dcterms:modified xsi:type="dcterms:W3CDTF">2026-03-05T22:09:08Z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